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7" r:id="rId5"/>
    <p:sldId id="268" r:id="rId6"/>
    <p:sldId id="259" r:id="rId7"/>
    <p:sldId id="260" r:id="rId8"/>
    <p:sldId id="261" r:id="rId9"/>
    <p:sldId id="262" r:id="rId10"/>
    <p:sldId id="263" r:id="rId11"/>
    <p:sldId id="264" r:id="rId12"/>
    <p:sldId id="265" r:id="rId13"/>
    <p:sldId id="266"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933187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94443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670051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616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6797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2/25/2026</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8868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0037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2/25/2026</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706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2/25/2026</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5152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9562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3829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2/25/2026</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267617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Phishing Awareness Training</a:t>
            </a:r>
          </a:p>
        </p:txBody>
      </p:sp>
      <p:sp>
        <p:nvSpPr>
          <p:cNvPr id="3" name="Subtitle 2"/>
          <p:cNvSpPr>
            <a:spLocks noGrp="1"/>
          </p:cNvSpPr>
          <p:nvPr>
            <p:ph type="subTitle" idx="1"/>
          </p:nvPr>
        </p:nvSpPr>
        <p:spPr/>
        <p:txBody>
          <a:bodyPr>
            <a:normAutofit fontScale="62500" lnSpcReduction="20000"/>
          </a:bodyPr>
          <a:lstStyle/>
          <a:p>
            <a:r>
              <a:rPr dirty="0"/>
              <a:t>A Detailed Study on Phishing Attacks, Detection &amp; Prevention</a:t>
            </a:r>
          </a:p>
          <a:p>
            <a:endParaRPr dirty="0"/>
          </a:p>
          <a:p>
            <a:r>
              <a:rPr dirty="0"/>
              <a:t>Prepared by </a:t>
            </a:r>
            <a:r>
              <a:rPr lang="en-US" dirty="0"/>
              <a:t>E-Arvind </a:t>
            </a:r>
            <a:r>
              <a:rPr lang="en-US" dirty="0" err="1"/>
              <a:t>Udiyar</a:t>
            </a:r>
            <a:endParaRPr dirty="0"/>
          </a:p>
          <a:p>
            <a:r>
              <a:rPr lang="en-US" dirty="0" err="1"/>
              <a:t>Msc</a:t>
            </a:r>
            <a:r>
              <a:rPr lang="en-US" dirty="0"/>
              <a:t>.</a:t>
            </a:r>
            <a:r>
              <a:rPr dirty="0"/>
              <a:t> Computer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Phishing</a:t>
            </a:r>
          </a:p>
        </p:txBody>
      </p:sp>
      <p:sp>
        <p:nvSpPr>
          <p:cNvPr id="3" name="Content Placeholder 2"/>
          <p:cNvSpPr>
            <a:spLocks noGrp="1"/>
          </p:cNvSpPr>
          <p:nvPr>
            <p:ph idx="1"/>
          </p:nvPr>
        </p:nvSpPr>
        <p:spPr>
          <a:xfrm>
            <a:off x="457199" y="1600200"/>
            <a:ext cx="8450827" cy="4983161"/>
          </a:xfrm>
        </p:spPr>
        <p:txBody>
          <a:bodyPr>
            <a:normAutofit/>
          </a:bodyPr>
          <a:lstStyle/>
          <a:p>
            <a:r>
              <a:rPr dirty="0"/>
              <a:t>Phishing is a type of cyber attack that relies on social engineering techniques to deceive individuals into revealing sensitive information such as usernames, passwords, banking details, and OTPs. Attackers typically impersonate trusted entities like banks, government agencies, or popular online platforms.</a:t>
            </a:r>
          </a:p>
          <a:p>
            <a:r>
              <a:rPr dirty="0"/>
              <a:t>The primary objective of phishing is financial fraud, identity theft, or unauthorized system access. It remains one of the most common and effective cyber threats worldwide due to human error and lack of awareness.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Phishing Attacks Work</a:t>
            </a:r>
          </a:p>
        </p:txBody>
      </p:sp>
      <p:sp>
        <p:nvSpPr>
          <p:cNvPr id="3" name="Content Placeholder 2"/>
          <p:cNvSpPr>
            <a:spLocks noGrp="1"/>
          </p:cNvSpPr>
          <p:nvPr>
            <p:ph idx="1"/>
          </p:nvPr>
        </p:nvSpPr>
        <p:spPr>
          <a:xfrm>
            <a:off x="457200" y="1600200"/>
            <a:ext cx="8303342" cy="4731774"/>
          </a:xfrm>
        </p:spPr>
        <p:txBody>
          <a:bodyPr>
            <a:normAutofit/>
          </a:bodyPr>
          <a:lstStyle/>
          <a:p>
            <a:r>
              <a:rPr dirty="0"/>
              <a:t>A phishing attack generally begins when a victim receives a fraudulent email, SMS, or message that appears legitimate. The message often contains a malicious link or attachment designed to look authentic.</a:t>
            </a:r>
          </a:p>
          <a:p>
            <a:r>
              <a:rPr dirty="0"/>
              <a:t>When the victim clicks the link, they are redirected to a fake website that closely resembles the original one. Once login credentials or personal information are entered, the attacker captures the data and uses it for malicious purposes.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460AB-5B7D-2281-8AB4-AD182E26960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F5D6E47-7654-695E-56D9-2713115CE96F}"/>
              </a:ext>
            </a:extLst>
          </p:cNvPr>
          <p:cNvPicPr>
            <a:picLocks noGrp="1" noChangeAspect="1"/>
          </p:cNvPicPr>
          <p:nvPr>
            <p:ph idx="1"/>
          </p:nvPr>
        </p:nvPicPr>
        <p:blipFill>
          <a:blip r:embed="rId2"/>
          <a:stretch>
            <a:fillRect/>
          </a:stretch>
        </p:blipFill>
        <p:spPr>
          <a:xfrm>
            <a:off x="198074" y="1289304"/>
            <a:ext cx="8747852" cy="3958304"/>
          </a:xfrm>
          <a:prstGeom prst="rect">
            <a:avLst/>
          </a:prstGeom>
        </p:spPr>
      </p:pic>
    </p:spTree>
    <p:extLst>
      <p:ext uri="{BB962C8B-B14F-4D97-AF65-F5344CB8AC3E}">
        <p14:creationId xmlns:p14="http://schemas.microsoft.com/office/powerpoint/2010/main" val="1833003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8BA90-5E58-23D9-1BE6-EBAF50D76D3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4D867E8-E60D-E9A0-CE58-0F84294B6418}"/>
              </a:ext>
            </a:extLst>
          </p:cNvPr>
          <p:cNvPicPr>
            <a:picLocks noGrp="1" noChangeAspect="1"/>
          </p:cNvPicPr>
          <p:nvPr>
            <p:ph idx="1"/>
          </p:nvPr>
        </p:nvPicPr>
        <p:blipFill>
          <a:blip r:embed="rId2"/>
          <a:stretch>
            <a:fillRect/>
          </a:stretch>
        </p:blipFill>
        <p:spPr>
          <a:xfrm>
            <a:off x="1433052" y="484632"/>
            <a:ext cx="6088626" cy="6255438"/>
          </a:xfrm>
          <a:prstGeom prst="rect">
            <a:avLst/>
          </a:prstGeom>
        </p:spPr>
      </p:pic>
    </p:spTree>
    <p:extLst>
      <p:ext uri="{BB962C8B-B14F-4D97-AF65-F5344CB8AC3E}">
        <p14:creationId xmlns:p14="http://schemas.microsoft.com/office/powerpoint/2010/main" val="280812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Phishing Attacks</a:t>
            </a:r>
          </a:p>
        </p:txBody>
      </p:sp>
      <p:sp>
        <p:nvSpPr>
          <p:cNvPr id="3" name="Content Placeholder 2"/>
          <p:cNvSpPr>
            <a:spLocks noGrp="1"/>
          </p:cNvSpPr>
          <p:nvPr>
            <p:ph idx="1"/>
          </p:nvPr>
        </p:nvSpPr>
        <p:spPr/>
        <p:txBody>
          <a:bodyPr/>
          <a:lstStyle/>
          <a:p>
            <a:r>
              <a:t>Email phishing involves sending bulk fake emails pretending to be from reputable organizations. Spear phishing is a targeted attack aimed at a specific individual or organization using personalized information.</a:t>
            </a:r>
          </a:p>
          <a:p>
            <a:r>
              <a:t>Smishing refers to phishing via SMS messages, while vishing uses voice calls to trick victims. Clone phishing duplicates legitimate emails but replaces original links with malicious 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Identifying Phishing Emails</a:t>
            </a:r>
          </a:p>
        </p:txBody>
      </p:sp>
      <p:sp>
        <p:nvSpPr>
          <p:cNvPr id="3" name="Content Placeholder 2"/>
          <p:cNvSpPr>
            <a:spLocks noGrp="1"/>
          </p:cNvSpPr>
          <p:nvPr>
            <p:ph idx="1"/>
          </p:nvPr>
        </p:nvSpPr>
        <p:spPr/>
        <p:txBody>
          <a:bodyPr/>
          <a:lstStyle/>
          <a:p>
            <a:r>
              <a:t>Phishing emails often contain urgent or threatening language such as warnings about account suspension. They may include suspicious sender addresses that slightly differ from official domains.</a:t>
            </a:r>
          </a:p>
          <a:p>
            <a:r>
              <a:t>Other indicators include spelling and grammatical errors, unfamiliar URLs, unexpected attachments, and requests for confidential information like OTPs or passwords.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Social Engineering Techniques Used by Attackers</a:t>
            </a:r>
          </a:p>
        </p:txBody>
      </p:sp>
      <p:sp>
        <p:nvSpPr>
          <p:cNvPr id="3" name="Content Placeholder 2"/>
          <p:cNvSpPr>
            <a:spLocks noGrp="1"/>
          </p:cNvSpPr>
          <p:nvPr>
            <p:ph idx="1"/>
          </p:nvPr>
        </p:nvSpPr>
        <p:spPr/>
        <p:txBody>
          <a:bodyPr/>
          <a:lstStyle/>
          <a:p>
            <a:r>
              <a:t>Phishing attackers manipulate human psychology by creating fear, urgency, authority, or greed. For example, they may claim that a bank account will be blocked unless immediate action is taken.</a:t>
            </a:r>
          </a:p>
          <a:p>
            <a:r>
              <a:t>They may also impersonate government officials or offer fake rewards and prizes. These tactics pressure victims into acting quickly without verifying authenticity.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Impact and Consequences of Phishing</a:t>
            </a:r>
          </a:p>
        </p:txBody>
      </p:sp>
      <p:sp>
        <p:nvSpPr>
          <p:cNvPr id="3" name="Content Placeholder 2"/>
          <p:cNvSpPr>
            <a:spLocks noGrp="1"/>
          </p:cNvSpPr>
          <p:nvPr>
            <p:ph idx="1"/>
          </p:nvPr>
        </p:nvSpPr>
        <p:spPr/>
        <p:txBody>
          <a:bodyPr/>
          <a:lstStyle/>
          <a:p>
            <a:r>
              <a:t>Phishing can result in severe financial losses, identity theft, and data breaches. Individuals may lose access to their bank accounts or social media profiles.</a:t>
            </a:r>
          </a:p>
          <a:p>
            <a:r>
              <a:t>For organizations, phishing attacks can lead to compromised systems, loss of confidential data, reputational damage, and legal consequences.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Example</a:t>
            </a:r>
          </a:p>
        </p:txBody>
      </p:sp>
      <p:sp>
        <p:nvSpPr>
          <p:cNvPr id="3" name="Content Placeholder 2"/>
          <p:cNvSpPr>
            <a:spLocks noGrp="1"/>
          </p:cNvSpPr>
          <p:nvPr>
            <p:ph idx="1"/>
          </p:nvPr>
        </p:nvSpPr>
        <p:spPr/>
        <p:txBody>
          <a:bodyPr/>
          <a:lstStyle/>
          <a:p>
            <a:r>
              <a:t>In India, many phishing attacks occur through fake KYC update messages or UPI payment alerts. Victims receive SMS messages claiming that their bank account requires immediate verification.</a:t>
            </a:r>
          </a:p>
          <a:p>
            <a:r>
              <a:t>Upon clicking the link and entering credentials, attackers gain access to banking information and transfer funds fraudulently.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Prevention and Best Practices</a:t>
            </a:r>
          </a:p>
        </p:txBody>
      </p:sp>
      <p:sp>
        <p:nvSpPr>
          <p:cNvPr id="3" name="Content Placeholder 2"/>
          <p:cNvSpPr>
            <a:spLocks noGrp="1"/>
          </p:cNvSpPr>
          <p:nvPr>
            <p:ph idx="1"/>
          </p:nvPr>
        </p:nvSpPr>
        <p:spPr/>
        <p:txBody>
          <a:bodyPr/>
          <a:lstStyle/>
          <a:p>
            <a:r>
              <a:t>Individuals should never share OTPs, passwords, or banking details through email or phone calls. Enabling two-factor authentication (2FA) adds an extra layer of security to online accounts.</a:t>
            </a:r>
          </a:p>
          <a:p>
            <a:r>
              <a:t>It is important to verify website URLs carefully, avoid clicking suspicious links, keep systems updated, and report phishing attempts to the concerned organization.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Organizational Security Measures</a:t>
            </a:r>
          </a:p>
        </p:txBody>
      </p:sp>
      <p:sp>
        <p:nvSpPr>
          <p:cNvPr id="3" name="Content Placeholder 2"/>
          <p:cNvSpPr>
            <a:spLocks noGrp="1"/>
          </p:cNvSpPr>
          <p:nvPr>
            <p:ph idx="1"/>
          </p:nvPr>
        </p:nvSpPr>
        <p:spPr/>
        <p:txBody>
          <a:bodyPr/>
          <a:lstStyle/>
          <a:p>
            <a:r>
              <a:t>Organizations should implement email filtering systems, spam detection tools, and regular cybersecurity awareness training programs for employees.</a:t>
            </a:r>
          </a:p>
          <a:p>
            <a:r>
              <a:t>Strong password policies, multi-factor authentication, and incident response plans help reduce the risk and impact of phishing attacks.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Phishing attacks continue to evolve with advanced techniques and convincing impersonation strategies. Awareness and education are the first lines of defense against such threats.</a:t>
            </a:r>
          </a:p>
          <a:p>
            <a:r>
              <a:t>By staying alert, verifying information before taking action, and following cybersecurity best practices, individuals and organizations can significantly reduce the risk of falling victim to phishing.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4</TotalTime>
  <Words>648</Words>
  <Application>Microsoft Office PowerPoint</Application>
  <PresentationFormat>On-screen Show (4:3)</PresentationFormat>
  <Paragraphs>35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Rockwell</vt:lpstr>
      <vt:lpstr>Rockwell Condensed</vt:lpstr>
      <vt:lpstr>Wingdings</vt:lpstr>
      <vt:lpstr>Wood Type</vt:lpstr>
      <vt:lpstr>Phishing Awareness Training</vt:lpstr>
      <vt:lpstr>Introduction to Phishing</vt:lpstr>
      <vt:lpstr>How Phishing Attacks Work</vt:lpstr>
      <vt:lpstr>PowerPoint Presentation</vt:lpstr>
      <vt:lpstr>PowerPoint Presentation</vt:lpstr>
      <vt:lpstr>Types of Phishing Attacks</vt:lpstr>
      <vt:lpstr>Identifying Phishing Emails</vt:lpstr>
      <vt:lpstr>Social Engineering Techniques Used by Attackers</vt:lpstr>
      <vt:lpstr>Impact and Consequences of Phishing</vt:lpstr>
      <vt:lpstr>Real-World Example</vt:lpstr>
      <vt:lpstr>Prevention and Best Practices</vt:lpstr>
      <vt:lpstr>Organizational Security Measures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 Bhosale</cp:lastModifiedBy>
  <cp:revision>2</cp:revision>
  <dcterms:created xsi:type="dcterms:W3CDTF">2013-01-27T09:14:16Z</dcterms:created>
  <dcterms:modified xsi:type="dcterms:W3CDTF">2026-02-25T15:18:25Z</dcterms:modified>
  <cp:category/>
</cp:coreProperties>
</file>